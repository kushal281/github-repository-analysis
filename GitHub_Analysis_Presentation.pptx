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92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48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457200" y="2907792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· Popularity · Community Engagement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520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Kushal Agarwal  ·  B24DS012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794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and Visualization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640080"/>
            <a:ext cx="2834640" cy="80467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943600" y="640080"/>
            <a:ext cx="54864" cy="8046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172200" y="6949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17220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1645920"/>
            <a:ext cx="2834640" cy="80467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943600" y="1645920"/>
            <a:ext cx="54864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72200" y="170078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~42M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172200" y="2103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2651760"/>
            <a:ext cx="2834640" cy="80467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943600" y="2651760"/>
            <a:ext cx="54864" cy="8046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172200" y="270662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17220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0" y="3657600"/>
            <a:ext cx="2834640" cy="80467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943600" y="3657600"/>
            <a:ext cx="54864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172200" y="371246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13,590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17220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Forks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via GitHub REST API  ·  Self-collected dataset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20116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1430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4864" cy="114300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03327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10332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161848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· 500 repositories · 13 features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46320" y="960120"/>
            <a:ext cx="4160520" cy="11430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46320" y="960120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515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103327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035040" y="10332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10912" y="161848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· Feature engineering · Preprocessing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1480" y="2258568"/>
            <a:ext cx="4160520" cy="11430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11480" y="2258568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5000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4712" y="23317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600200" y="2331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8 Questions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76072" y="291693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· Correlations · Temporal trends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846320" y="2258568"/>
            <a:ext cx="4160520" cy="11430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4846320" y="2258568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35000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9552" y="23317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035040" y="2331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010912" y="291693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polished charts · HTML interactive dashboard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11480" y="3557016"/>
            <a:ext cx="4160520" cy="11430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411480" y="3557016"/>
            <a:ext cx="54864" cy="1143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48456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24712" y="36301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1600200" y="3630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76072" y="421538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R² · Feature importance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4846320" y="3557016"/>
            <a:ext cx="4160520" cy="11430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4846320" y="3557016"/>
            <a:ext cx="54864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648456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559552" y="36301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6035040" y="3630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010912" y="421538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GitHub popularity?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185416" cy="2560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01  DATA COLLECTION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dataset was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2004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4937760" cy="8229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241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/search/repositories endpoint with sort=stars, order=desc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4937760" cy="8229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199339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requests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30428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API calls · JSON parsing · Pandas DataFrame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4937760" cy="8229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962656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9626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Repositories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27355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repositories by star count — covers 44K to 490K stars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840480"/>
            <a:ext cx="4937760" cy="8229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Attributes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24281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forks, watchers, issues, contributors, language, topics, dates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23560" y="932688"/>
            <a:ext cx="3108960" cy="38404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760720" y="10241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13898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repo_name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60720" y="18379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owner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60720" y="2286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60720" y="27340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forks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60720" y="3182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watchers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36301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open_issues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0" y="407822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contributors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0" y="13898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language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0" y="18379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topics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15200" y="2286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created_at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15200" y="27340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updated_at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0" y="3182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description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15200" y="36301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repo_url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Limitations: API rate limits applied · Contributors count approximated · Dataset limited to top repositories by star count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984248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02  DATA CLEANING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4747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5029200" cy="8686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54864" cy="86868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38074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created_at &amp; updated_at from  strings to timezone-aware datetimes, then made tz-naive for arithmetic.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5029200" cy="8686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1984248"/>
            <a:ext cx="54864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075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40487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repos had no language tag → filled with 'Unknown'. Numeric nulls in forks, contributors, open_issues, repo_age imputed with column median.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08376"/>
            <a:ext cx="5029200" cy="8686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3008376"/>
            <a:ext cx="54864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309981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exact duplicate rows — none found. All 500 rows confirmed unique. Final clean shape: 500 × 13.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15000" y="93268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15000" y="1207008"/>
            <a:ext cx="3017520" cy="80467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715000" y="1207008"/>
            <a:ext cx="54864" cy="8046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897880" y="1280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repo_age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1554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(Today − created_at) ÷ 365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years — how long to accumulate stars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15000" y="2157984"/>
            <a:ext cx="3017520" cy="80467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715000" y="2157984"/>
            <a:ext cx="54864" cy="804672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97880" y="2231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created_year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97880" y="25054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year extracted from created_at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temporal grouping and charting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15000" y="3108960"/>
            <a:ext cx="3017520" cy="80467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715000" y="3108960"/>
            <a:ext cx="54864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97880" y="3182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fork_ratio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97880" y="3456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÷ stars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star-givers who also fork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15000" y="4059936"/>
            <a:ext cx="3017520" cy="80467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715000" y="4059936"/>
            <a:ext cx="54864" cy="8046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897880" y="4133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97880" y="44074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+ (forks×2) + watchers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popularity score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4160520"/>
            <a:ext cx="8321040" cy="77724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97280" y="4224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1097280" y="45537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Rows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54680" y="4224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3154680" y="45537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12080" y="4224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212080" y="45537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Lang. Imputed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69480" y="4224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269480" y="45537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978408" cy="256032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03  EDA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Statistical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657600" cy="36576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6931152" cy="16535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</a:rPr>
                        <a:t>Mean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</a:rPr>
                        <a:t>Median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</a:rPr>
                        <a:t>Std Dev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</a:rPr>
                        <a:t>Skewness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stars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83,908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64,794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68,215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2.74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forks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13,590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7,825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19,440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3.12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contributors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795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283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1,981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5.60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open_issues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1,204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427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2,890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4.20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repo_age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8.2 yrs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8.5 yrs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3.8 yrs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–0.22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fork_ratio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0.164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0.127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0.148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</a:rPr>
                        <a:t>3.45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337560"/>
            <a:ext cx="6931152" cy="4572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333756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— 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8308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&amp; forks have skewness &gt; 2 — power-law distributions where few repos dominate.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3886200"/>
            <a:ext cx="6931152" cy="4572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11480" y="3886200"/>
            <a:ext cx="54864" cy="4572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94360" y="3977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— 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83080" y="3977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ranges from 1 to 21,986 — solo projects to community platforms.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4434840"/>
            <a:ext cx="6931152" cy="4572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11480" y="44348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94360" y="4526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age signal — 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83080" y="4526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repo_age has near-zero skew — evenly spread across 18 years.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16368" y="914400"/>
            <a:ext cx="1261872" cy="4023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589520" y="9875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89520" y="15727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Star distribution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589520" y="19933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Language share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589520" y="24140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Correlations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589520" y="28346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Temporal growth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589520" y="32552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Topics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589520" y="36758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Age vs stars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589520" y="40965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 Top repos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589520" y="45171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 Community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783080" cy="256032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EDA  ·  Q1 &amp; Q2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Distribution  ·  Language Dominance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840480" cy="36576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170" r="49205"/>
          <a:stretch>
            <a:fillRect/>
          </a:stretch>
        </p:blipFill>
        <p:spPr>
          <a:xfrm>
            <a:off x="502920" y="990719"/>
            <a:ext cx="3840480" cy="22188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291840"/>
            <a:ext cx="402336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329184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" y="3383280"/>
            <a:ext cx="3767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Q1 Finding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3621024"/>
            <a:ext cx="3767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follow a power-law distribution — most repos cluster 44K–80K while a tiny elite exceeds 200K. C++ and TypeScript show higher median stars than JavaScript.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7692" r="56212"/>
          <a:stretch>
            <a:fillRect/>
          </a:stretch>
        </p:blipFill>
        <p:spPr>
          <a:xfrm>
            <a:off x="4654648" y="986146"/>
            <a:ext cx="3949504" cy="221882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26280" y="3291840"/>
            <a:ext cx="42062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526280" y="329184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690872" y="3383280"/>
            <a:ext cx="3950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Q2 Finding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90872" y="3621024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dominates in count (23.8%) but Markdown repos outscore the median most. Go &amp; Rust punch above their weight — quality over quantity.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688336" cy="256032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Q1  ·  STAR DISTRIBUTION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GitHub stars distributed?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114800" cy="36576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832104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041648"/>
            <a:ext cx="83210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4041648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" y="4133088"/>
            <a:ext cx="8065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Key Finding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4370832"/>
            <a:ext cx="8065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follow a power-law / log-normal distribution. A large majority cluster between 44K–80K while a tiny elite exceeds 200K. The KDE confirms a long right tail. C++ &amp; TypeScript show higher medians; JavaScript has high variance driven by outliers.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788920" cy="2560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Q2  ·  LANGUAGE DOMINANCE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languages dominate top repositories?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38912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832104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206240"/>
            <a:ext cx="83210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420624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" y="4297680"/>
            <a:ext cx="8065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Key Finding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4535424"/>
            <a:ext cx="8065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leads in count (23.8%), TypeScript 18.4%, JavaScript 13.6%. But Markdown &amp; Batchfile repos score highest above median — documentation repos outperform code repos. Go &amp; Rust have fewer repos but above-median popularity per repo.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889504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Q3  ·  METRIC CORRELATIONS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engagement metrics relate?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8404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832104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206240"/>
            <a:ext cx="4023360" cy="34747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4206240"/>
            <a:ext cx="45720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4251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↔ Watchers  r = 1.00  (identical — excluded from model)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7720" y="4206240"/>
            <a:ext cx="4023360" cy="34747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17720" y="4206240"/>
            <a:ext cx="45720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754880" y="4251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↔ Forks  r = 0.61  (strong positive — key predictor)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4608576"/>
            <a:ext cx="4023360" cy="34747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11480" y="4608576"/>
            <a:ext cx="4572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4654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↔ Contributors  r = 0.40  (moderate — collaborative repos fork more)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17720" y="4608576"/>
            <a:ext cx="4023360" cy="34747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617720" y="4608576"/>
            <a:ext cx="45720" cy="34747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754880" y="4654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↔ Age  r ≈ 0.05  (very weak — age alone doesn't predict)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487168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Q4  ·  TEMPORAL GROWTH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open-source evolved over time?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1148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658368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914400"/>
            <a:ext cx="1554480" cy="7132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223760" y="914400"/>
            <a:ext cx="54864" cy="713232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360920" y="9692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60920" y="12435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adoption peak — most repos created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223760" y="1737360"/>
            <a:ext cx="1554480" cy="7132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223760" y="1737360"/>
            <a:ext cx="54864" cy="7132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60920" y="1792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60920" y="20665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stars — time + momentum combined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223760" y="2560320"/>
            <a:ext cx="1554480" cy="7132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223760" y="256032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360920" y="2615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60920" y="28895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revival — sharp spike in new repos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223760" y="3383280"/>
            <a:ext cx="1554480" cy="7132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223760" y="338328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360920" y="3438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60920" y="3712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Overtook JavaScript from 2018 onwards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223760" y="4206240"/>
            <a:ext cx="1554480" cy="71323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223760" y="4206240"/>
            <a:ext cx="54864" cy="7132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360920" y="4261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360920" y="45354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post-2020 in language share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4297680" cy="2560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Q5 &amp; Q6  ·  TOPICS  ·  AGE VS POPULARITY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Ecosystem  ·  Does Age Predict Stars?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57200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10000" r="45055"/>
          <a:stretch>
            <a:fillRect/>
          </a:stretch>
        </p:blipFill>
        <p:spPr>
          <a:xfrm>
            <a:off x="411480" y="1019556"/>
            <a:ext cx="4198256" cy="20162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090672"/>
            <a:ext cx="83210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3090672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" y="3182112"/>
            <a:ext cx="8065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Q5 — Topics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3419856"/>
            <a:ext cx="8065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python top by volume. AI, llm, chatgpt are fastest-rising (2022–25 only). hacktoberfest in 43 repos shows event-driven culture. awesome-list repos have highest avg stars.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50000" t="6170"/>
          <a:stretch>
            <a:fillRect/>
          </a:stretch>
        </p:blipFill>
        <p:spPr>
          <a:xfrm>
            <a:off x="4609736" y="1019556"/>
            <a:ext cx="4122783" cy="20162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1480" y="4169664"/>
            <a:ext cx="83210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11480" y="4169664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76072" y="4261104"/>
            <a:ext cx="8065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Q6 — Age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76072" y="4498848"/>
            <a:ext cx="8065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 positive regression (r ≈ 0.05–0.2, p &lt; 0.05). 2–5 yr repos have widest spread. Repos under 2 yrs already at 44K+ stars — AI repos go viral in months bypassing age premium.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487168" cy="2560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Q5  ·  TOPIC ECOSYSTEM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topics define popular open-source projects?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75488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832104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206240"/>
            <a:ext cx="83210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420624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" y="4297680"/>
            <a:ext cx="8065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Key Finding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4535424"/>
            <a:ext cx="8065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(69) and python (68) top by count. AI, llm, chatgpt are exclusively 2022–25 topics — signalling a structural shift. hacktoberfest in 43 repos. awesome-list and machine-learning are the largest non-language bubbles — curation is valued.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688336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Q6  ·  AGE VS POPULARITY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repository age predict star count?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1148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832104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041648"/>
            <a:ext cx="83210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4041648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" y="4133088"/>
            <a:ext cx="8065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Key Finding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4370832"/>
            <a:ext cx="8065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but weak (r ≈ 0.05–0.2, p &lt; 0.05). 2–5 year repos show widest spread — era of creation matters more than raw age. Repos under 2 years old already hit 44K+ stars proving AI repos can bypass age premium entirely.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58775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Q7  ·  TOP REPOSITORIES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repositories?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832104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206240"/>
            <a:ext cx="83210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420624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" y="4297680"/>
            <a:ext cx="8065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Key Finding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4535424"/>
            <a:ext cx="8065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build-your-own-x leads at 490K stars — it is a documentation repo, not a framework. freeCodeCamp dominates in contributors (6,000+) and open issues. The top 10 is almost entirely educational/resource repos — content drives virality more than code quality.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3291840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Q8  ·  COMMUNITY PARTICIPATION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languages drive community engagement?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832104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206240"/>
            <a:ext cx="8321040" cy="1051560"/>
          </a:xfrm>
          <a:prstGeom prst="rect">
            <a:avLst/>
          </a:prstGeom>
          <a:solidFill>
            <a:srgbClr val="0D2D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420624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6072" y="4297680"/>
            <a:ext cx="8065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Key Finding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" y="4535424"/>
            <a:ext cx="8065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and Go have the highest median contributors — deeply collaborative despite fewer repos. TypeScript is the most balanced: high stars AND contributors. JavaScript is wide but not deep. C/C++ repos are disproportionately forked — high downstream reuse.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984248" cy="256032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04  VISUALIZATION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HTML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200400" cy="36576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3474720" cy="397764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54864" cy="397764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591056"/>
            <a:ext cx="73152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536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 — double-click to open in any browser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2057400"/>
            <a:ext cx="73152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0025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20370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research question + model section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2523744"/>
            <a:ext cx="73152" cy="73152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24688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Click-to-zoom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6700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opens in fullscreen lightbox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990088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29352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progress bar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1363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scroll position across entire page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456432"/>
            <a:ext cx="73152" cy="7315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4015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nav highlight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60273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highlights current section while scrolling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922776"/>
            <a:ext cx="73152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38679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per chart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069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insight boxes after every visualization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4389120"/>
            <a:ext cx="73152" cy="731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terminal theme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53542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GitHub-inspired #0a0e1a palette + monospace font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0" y="960120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 USED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0" y="1261872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24528" y="12984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Histogram + KDE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24528" y="148132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446520" y="1261872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56248" y="12984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Notched Boxplot + Strip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56248" y="148132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Language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0" y="1737360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224528" y="17739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24528" y="1956816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Share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46520" y="1737360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56248" y="17739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Bar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56248" y="1956816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Above/Below Median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0" y="2212848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224528" y="22494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24528" y="243230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Relations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446520" y="2212848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56248" y="22494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+ OLS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56248" y="243230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vs Forks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14800" y="2688336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224528" y="2724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+ Stacked Area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24528" y="2907792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446520" y="2688336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556248" y="2724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56248" y="2907792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× Language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14800" y="3163824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224528" y="3200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Lollipop Chart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24528" y="338328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446520" y="3163824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556248" y="3200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Chart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56248" y="338328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Topic/Language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114800" y="3639312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224528" y="3675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24528" y="38587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446520" y="3639312"/>
            <a:ext cx="2194560" cy="38404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556248" y="3675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Coordinates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56248" y="38587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Repos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286000" cy="2560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05  PREDICTIVE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Predicting Star Count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11480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3291840" cy="397764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54864" cy="3977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star count using measurable repository attributes. Two models trained: raw stars &amp; log-transformed stars.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359152"/>
            <a:ext cx="73152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3042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 —  Strongest EDA signal (r=0.61)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798064"/>
            <a:ext cx="73152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 —  Community size — 2nd predictor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236976"/>
            <a:ext cx="73152" cy="73152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1821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open_issues  —  Activity proxy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675888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6210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repo_age  —  Time to accumulate stars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2926080" cy="548640"/>
          </a:xfrm>
          <a:prstGeom prst="rect">
            <a:avLst/>
          </a:prstGeom>
          <a:solidFill>
            <a:srgbClr val="0D22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watchers excluded — r=1.0 with stars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leakage — GitHub counts them identically)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86200" y="960120"/>
            <a:ext cx="2331720" cy="74980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86200" y="960120"/>
            <a:ext cx="54864" cy="7498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069080" y="101498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069080" y="14356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Raw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960120"/>
            <a:ext cx="2331720" cy="74980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46520" y="960120"/>
            <a:ext cx="54864" cy="7498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29400" y="101498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629400" y="14356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Log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86200" y="1874520"/>
            <a:ext cx="2331720" cy="74980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86200" y="187452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069080" y="192938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61K–64K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069080" y="23500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46520" y="1874520"/>
            <a:ext cx="2331720" cy="74980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46520" y="187452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629400" y="192938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repos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629400" y="23500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907792"/>
            <a:ext cx="4846320" cy="1115568"/>
          </a:xfrm>
          <a:prstGeom prst="rect">
            <a:avLst/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069080"/>
            <a:ext cx="484632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883664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06  KEY INSIGHTS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GitHub repository popularity?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41148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160520" cy="123444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54864" cy="1234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241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0241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over 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44475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most-starred repos are documentation, tutorials, and curated lists — not frameworks. build-your-own-x (490K ⭐), awesome (455K), free-programming-books (385K).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00600" y="914400"/>
            <a:ext cx="4160520" cy="123444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800600" y="91440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02412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0241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signal popularity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83480" y="144475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↔ Forks r=0.61 is the strongest measurable signal. Forks indicate community engagement — a self-reinforcing discovery cycle.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11480" y="2304288"/>
            <a:ext cx="4160520" cy="123444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11480" y="2304288"/>
            <a:ext cx="54864" cy="12344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1401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4140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era reset dynamics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94360" y="28346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repos created post-2022 can reach 44K+ stars within months. Era of creation now matters more than repository age.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800600" y="2304288"/>
            <a:ext cx="4160520" cy="123444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800600" y="2304288"/>
            <a:ext cx="54864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41401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24140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a weak predictor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983480" y="28346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0.05–0.2 — age alone explains almost nothing. Relevance, content type, and community momentum matter far more.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11480" y="3694176"/>
            <a:ext cx="4160520" cy="123444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411480" y="3694176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0390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51560" y="38039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depth matters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94360" y="422452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and Go have fewest repos but highest contributor depth. TypeScript is the most balanced language ecosystem.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800600" y="3694176"/>
            <a:ext cx="4160520" cy="123444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4800600" y="3694176"/>
            <a:ext cx="54864" cy="123444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80390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40680" y="38039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leads, Go punches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983480" y="422452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at 23.8% share but Go &amp; Rust score well above global median per repo — fewer but higher-quality community repos.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25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274320"/>
            <a:ext cx="1280160" cy="2560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83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CONCLUSION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success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driven by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not age.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2487168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signals — forks, contributors, educational content — predict popularity far better than how long a repo has existed. The AI/LLM era has fundamentally reset growth dynamics.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3785616"/>
            <a:ext cx="91440" cy="91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drives virality more than code quality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4133088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40507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repos go viral within months — era matters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480560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43982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+ contributors are the most actionable signals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502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0" y="868680"/>
            <a:ext cx="34290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03520" y="868680"/>
            <a:ext cx="54864" cy="68580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0" y="9418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12344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5,000+ repos for better generalization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1691640"/>
            <a:ext cx="34290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303520" y="1691640"/>
            <a:ext cx="54864" cy="6858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0" y="17647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057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Gradient Boosting — handle non-linearity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2514600"/>
            <a:ext cx="34290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303520" y="25146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0" y="25877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8803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GitHub API to monitor trending repos live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3337560"/>
            <a:ext cx="34290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0" y="33375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0" y="34107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3703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quality score, description sentiment analysis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4160520"/>
            <a:ext cx="34290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303520" y="4160520"/>
            <a:ext cx="54864" cy="6858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0" y="42336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4526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repo-contributor collaboration graphs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Kushal Agarwal  ·  B24DS012  ·  Data Analysis and Visualization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280160" cy="25603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2542"/>
                </a:solidFill>
              </a:rPr>
              <a:t>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2286000" cy="3657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43891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03327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78608" y="10332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docs.github.com/en/rest — /search/repositories endpoint used for data collection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490472"/>
            <a:ext cx="8321040" cy="43891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" y="15636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56362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156362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McKinney, W. (2010). Data Structures for Statistical Computing in Python. SciPy 2010.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020824"/>
            <a:ext cx="8321040" cy="43891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0352" y="209397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0939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20939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Hunter, J.D. (2007). Matplotlib: A 2D Graphics Environment. Computing in Science &amp; Engineering.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551176"/>
            <a:ext cx="8321040" cy="43891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0352" y="26243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6243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78608" y="26243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Waskom, M. (2021). Seaborn: Statistical Data Visualization. JOSS, 6(60), 3021.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081528"/>
            <a:ext cx="8321040" cy="43891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15468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154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78608" y="3154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(2011). Scikit-learn: Machine Learning in Python. JMLR, 12, 2825–2830.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611880"/>
            <a:ext cx="8321040" cy="43891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0352" y="368503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6850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paper 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78608" y="3685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Clauset, A., Shalizi, C.R., Newman, M.E.J. (2009). Power-Law Distributions in Empirical Data. SIAM.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142232"/>
            <a:ext cx="8321040" cy="43891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0352" y="421538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42153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Coding paper 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78608" y="42153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Dabbish, L. et al. (2012). Social Coding in GitHub: Transparency and Collaboration. CSCW 2012.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self-collected using GitHub REST API with Python requests library.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1897</Words>
  <Application>Microsoft Office PowerPoint</Application>
  <PresentationFormat>On-screen Show (16:9)</PresentationFormat>
  <Paragraphs>338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Repository Analysis</dc:title>
  <dc:subject>PptxGenJS Presentation</dc:subject>
  <dc:creator>Kushal Agarwal</dc:creator>
  <cp:lastModifiedBy>Kushal Agarwal</cp:lastModifiedBy>
  <cp:revision>3</cp:revision>
  <dcterms:created xsi:type="dcterms:W3CDTF">2026-04-27T04:22:11Z</dcterms:created>
  <dcterms:modified xsi:type="dcterms:W3CDTF">2026-04-27T05:29:06Z</dcterms:modified>
</cp:coreProperties>
</file>